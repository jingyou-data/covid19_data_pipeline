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B886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822960" cy="1325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Full Pipeline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463040" y="11155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Team Orchestration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463040" y="1691640"/>
            <a:ext cx="6858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179222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8F5"/>
                </a:solidFill>
              </a:rPr>
              <a:t>National Public Health Analytics Consortium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1214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C060"/>
                </a:solidFill>
              </a:rPr>
              <a:t>Jing You  ·  Josh Breuwet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463040" y="2578608"/>
            <a:ext cx="1389888" cy="329184"/>
          </a:xfrm>
          <a:prstGeom prst="rect">
            <a:avLst>
              <a:gd name="adj" fmla="val 16667"/>
            </a:avLst>
          </a:prstGeom>
          <a:solidFill>
            <a:srgbClr val="5B9EC9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63040" y="257860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62656" y="2578608"/>
            <a:ext cx="1389888" cy="329184"/>
          </a:xfrm>
          <a:prstGeom prst="rect">
            <a:avLst>
              <a:gd name="adj" fmla="val 16667"/>
            </a:avLst>
          </a:prstGeom>
          <a:solidFill>
            <a:srgbClr val="5B9EC9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62656" y="257860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Snowflake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62272" y="2578608"/>
            <a:ext cx="1389888" cy="329184"/>
          </a:xfrm>
          <a:prstGeom prst="rect">
            <a:avLst>
              <a:gd name="adj" fmla="val 16667"/>
            </a:avLst>
          </a:prstGeom>
          <a:solidFill>
            <a:srgbClr val="5B9EC9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272" y="257860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dbt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61888" y="2578608"/>
            <a:ext cx="1389888" cy="329184"/>
          </a:xfrm>
          <a:prstGeom prst="rect">
            <a:avLst>
              <a:gd name="adj" fmla="val 16667"/>
            </a:avLst>
          </a:prstGeom>
          <a:solidFill>
            <a:srgbClr val="5B9EC9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57860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Apache Airflow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61504" y="2578608"/>
            <a:ext cx="1389888" cy="329184"/>
          </a:xfrm>
          <a:prstGeom prst="rect">
            <a:avLst>
              <a:gd name="adj" fmla="val 16667"/>
            </a:avLst>
          </a:prstGeom>
          <a:solidFill>
            <a:srgbClr val="5B9EC9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61504" y="257860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Streamlit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463040" y="45720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70"/>
                </a:solidFill>
              </a:rPr>
              <a:t>Nashville Software School  ·  Data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457200"/>
            <a:ext cx="54864" cy="4114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560320" cy="256032"/>
          </a:xfrm>
          <a:prstGeom prst="rect">
            <a:avLst>
              <a:gd name="adj" fmla="val 14286"/>
            </a:avLst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1 — Architecture &amp; Team Coordination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Team Coordination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920240" cy="109728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Bronze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Raw ingestion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State Health + Census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828800"/>
            <a:ext cx="365760" cy="0"/>
          </a:xfrm>
          <a:prstGeom prst="LINE">
            <a:avLst/>
          </a:prstGeom>
          <a:noFill/>
          <a:ln w="31750">
            <a:solidFill>
              <a:srgbClr val="1A4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1691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4A7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43200" y="1280160"/>
            <a:ext cx="1920240" cy="109728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Silver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16916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dbt Staging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Intermediate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365760" cy="0"/>
          </a:xfrm>
          <a:prstGeom prst="LINE">
            <a:avLst/>
          </a:prstGeom>
          <a:noFill/>
          <a:ln w="31750">
            <a:solidFill>
              <a:srgbClr val="1A4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691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4A72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1280160"/>
            <a:ext cx="1920240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Gold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16916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dbt Marts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Dashboard-ready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4A72"/>
                </a:solidFill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2743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 Dashboard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6126480" cy="384048"/>
          </a:xfrm>
          <a:prstGeom prst="rect">
            <a:avLst/>
          </a:prstGeom>
          <a:solidFill>
            <a:srgbClr val="1A4A72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2900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</a:rPr>
              <a:t>Orchestrated by Apache Airflow  ·  Schedule: @weekly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12344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2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1554480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1554480"/>
            <a:ext cx="54864" cy="6583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15727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CDC County COVID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206,332 records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75120" y="2304288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2304288"/>
            <a:ext cx="54864" cy="6583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232257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NCHS Death Counts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22,032 records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75120" y="3054096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3054096"/>
            <a:ext cx="54864" cy="6583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307238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US Census ACS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3,221 records</a:t>
            </a:r>
            <a:endParaRPr lang="en-US" sz="9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412480" y="4297680"/>
            <a:ext cx="411480" cy="65836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400800" y="4663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0"/>
                </a:solidFill>
              </a:rPr>
              <a:t>Jing You · NSS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457200"/>
            <a:ext cx="54864" cy="4114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560320" cy="256032"/>
          </a:xfrm>
          <a:prstGeom prst="rect">
            <a:avLst>
              <a:gd name="adj" fmla="val 14286"/>
            </a:avLst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1 — Primary ownership, not silos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 Split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023360" cy="457200"/>
          </a:xfrm>
          <a:prstGeom prst="rect">
            <a:avLst/>
          </a:prstGeom>
          <a:solidFill>
            <a:srgbClr val="1A4A72"/>
          </a:solidFill>
          <a:ln w="12700">
            <a:solidFill>
              <a:srgbClr val="1A4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Josh — Ingestion &amp; Platform Lead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Python ingestion scripts (3 sources)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Airflow DAG wiring &amp; configuration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Snowflake Bronze layer loading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Error handling, retry logic &amp; logging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Docker / WSL2 environment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2062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234440"/>
            <a:ext cx="4206240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Jing — Modeling &amp; Analytics Lead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1755648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dbt staging / intermediate / marts layers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dbt built-in &amp; custom data quality tests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7 analytics metrics across 3 mart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Streamlit dashboard (4 pages)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Technical documentation &amp; rationale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4A72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C060"/>
                </a:solidFill>
              </a:rPr>
              <a:t>Shared: Architecture decisions  ·  Integration testing  ·  Data contracts  ·  Presentation</a:t>
            </a:r>
            <a:endParaRPr lang="en-US" sz="10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412480" y="4297680"/>
            <a:ext cx="41148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457200"/>
            <a:ext cx="54864" cy="4114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560320" cy="256032"/>
          </a:xfrm>
          <a:prstGeom prst="rect">
            <a:avLst>
              <a:gd name="adj" fmla="val 14286"/>
            </a:avLst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1 — Full pipeline orchestration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Structure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468880" cy="1371600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ingest_data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 ingestion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 data sources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7373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4A7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468880" cy="1371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dbt_run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Staging → Silver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Intermediate → Silver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Marts → Gold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17373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4A7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468880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dbt_test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 tests passing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warn (CDC privacy)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8321040" cy="384048"/>
          </a:xfrm>
          <a:prstGeom prst="rect">
            <a:avLst/>
          </a:prstGeom>
          <a:solidFill>
            <a:srgbClr val="1A4A72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060"/>
                </a:solidFill>
              </a:rPr>
              <a:t>Schedule: @weekly  ·  retries: 2  ·  retry_delay: 5 min  ·  All tasks: BashOperator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01568"/>
            <a:ext cx="2560320" cy="329184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01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Workspace mount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749040"/>
            <a:ext cx="234086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Docker volume added to bind /workspace into Airflow container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401568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401568"/>
            <a:ext cx="2560320" cy="329184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401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dbt not in PATH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01568" y="3749040"/>
            <a:ext cx="234086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Used full path /home/airflow/.local/bin/dbt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401568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3401568"/>
            <a:ext cx="2560320" cy="329184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401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Warehouse suspend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3749040"/>
            <a:ext cx="234086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unset SNOWFLAKE_WAREHOUSE clears stale session variable</a:t>
            </a:r>
            <a:endParaRPr lang="en-US" sz="10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412480" y="4297680"/>
            <a:ext cx="41148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457200"/>
            <a:ext cx="54864" cy="4114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560320" cy="256032"/>
          </a:xfrm>
          <a:prstGeom prst="rect">
            <a:avLst>
              <a:gd name="adj" fmla="val 14286"/>
            </a:avLst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2 — What we ran into and how we fixed 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&amp; Solutions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160520" cy="329184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Geographic Key Mismatch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581912"/>
            <a:ext cx="3941064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CDC deaths used full state names; Census used FIPS codes. JOIN returned nothing silently.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Fix: 50-state CASE WHEN mapping in stg_census.sql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234440"/>
            <a:ext cx="4160520" cy="329184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2344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dbt Schema Concatenation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7448" y="1581912"/>
            <a:ext cx="3941064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Without macro, dbt concatenated schemas → BRONZE_SILVER.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Fix: Custom generate_schema_name macro to return clean schema names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71800"/>
            <a:ext cx="4160520" cy="329184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7180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Volume Mount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3319272"/>
            <a:ext cx="3941064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Airflow container had no access to /workspace — bash commands failed.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Fix: Added volume bind mount in docker-compose.yml + force-recreate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9718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971800"/>
            <a:ext cx="4160520" cy="329184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97180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Env Variable Residue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27448" y="3319272"/>
            <a:ext cx="3941064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export command left stale SNOWFLAKE_WAREHOUSE in session — load_dotenv() won't override.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Fix: unset SNOWFLAKE_WAREHOUSE before running scripts</a:t>
            </a:r>
            <a:endParaRPr lang="en-US" sz="1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412480" y="4297680"/>
            <a:ext cx="41148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457200"/>
            <a:ext cx="54864" cy="4114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560320" cy="256032"/>
          </a:xfrm>
          <a:prstGeom prst="rect">
            <a:avLst>
              <a:gd name="adj" fmla="val 14286"/>
            </a:avLst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3 — Instructor required + custom metrics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Metrics — 7 Total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1920240" cy="914400"/>
          </a:xfrm>
          <a:prstGeom prst="rect">
            <a:avLst/>
          </a:prstGeom>
          <a:solidFill>
            <a:srgbClr val="1A4A72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60"/>
                </a:solidFill>
              </a:rPr>
              <a:t>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Total Metrics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1234440"/>
            <a:ext cx="1920240" cy="914400"/>
          </a:xfrm>
          <a:prstGeom prst="rect">
            <a:avLst/>
          </a:prstGeom>
          <a:solidFill>
            <a:srgbClr val="1A4A72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280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60"/>
                </a:solidFill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3774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Mart Models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1234440"/>
            <a:ext cx="1920240" cy="914400"/>
          </a:xfrm>
          <a:prstGeom prst="rect">
            <a:avLst/>
          </a:prstGeom>
          <a:solidFill>
            <a:srgbClr val="1A4A72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280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60"/>
                </a:solidFill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348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dbt Tests Pass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92240" y="1234440"/>
            <a:ext cx="1920240" cy="914400"/>
          </a:xfrm>
          <a:prstGeom prst="rect">
            <a:avLst/>
          </a:prstGeom>
          <a:solidFill>
            <a:srgbClr val="1A4A72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280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60"/>
                </a:solidFill>
              </a:rPr>
              <a:t>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Warning (privacy)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33172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331720"/>
            <a:ext cx="2697480" cy="329184"/>
          </a:xfrm>
          <a:prstGeom prst="rect">
            <a:avLst/>
          </a:prstGeom>
          <a:solidFill>
            <a:srgbClr val="1A4A72"/>
          </a:solidFill>
          <a:ln w="12700">
            <a:solidFill>
              <a:srgbClr val="1A4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331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mart_public_health_kpis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2679192"/>
            <a:ext cx="247802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★ 7-day rolling avg cases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★ Cases per 100k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Mortality Burden 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Excess Death Rate Trend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33172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331720"/>
            <a:ext cx="2697480" cy="329184"/>
          </a:xfrm>
          <a:prstGeom prst="rect">
            <a:avLst/>
          </a:prstGeom>
          <a:solidFill>
            <a:srgbClr val="1A4A72"/>
          </a:solidFill>
          <a:ln w="12700">
            <a:solidFill>
              <a:srgbClr val="1A4A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331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mart_geographic_analysis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2679192"/>
            <a:ext cx="247802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Healthcare Stress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Community level encoding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County-level visualization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Hospital utilization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233172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2331720"/>
            <a:ext cx="2697480" cy="329184"/>
          </a:xfrm>
          <a:prstGeom prst="rect">
            <a:avLst/>
          </a:prstGeom>
          <a:solidFill>
            <a:srgbClr val="1A4A72"/>
          </a:solidFill>
          <a:ln w="12700">
            <a:solidFill>
              <a:srgbClr val="1A4A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331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mart_demographic_vulnerability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488" y="2679192"/>
            <a:ext cx="247802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Elderly Vulnerability 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Socioeconomic Impact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Poverty-Case Rate Correlation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Vulnerability tier classification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solidFill>
            <a:srgbClr val="F7FAFD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070"/>
                </a:solidFill>
              </a:rPr>
              <a:t>★ = Instructor required metric   |   All others = Custom metrics designed by team</a:t>
            </a:r>
            <a:endParaRPr lang="en-US" sz="9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412480" y="4206240"/>
            <a:ext cx="41148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457200"/>
            <a:ext cx="54864" cy="4114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560320" cy="256032"/>
          </a:xfrm>
          <a:prstGeom prst="rect">
            <a:avLst>
              <a:gd name="adj" fmla="val 14286"/>
            </a:avLst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3 — Designed for public health decision-makers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 — Why We Chose Them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85039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5B9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54864" cy="8046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710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A72"/>
                </a:solidFill>
              </a:rPr>
              <a:t>Healthcare Stress Score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5636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bed_utilization × hospital_admissions_per_100k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1289304"/>
            <a:ext cx="4754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Cases per 100k shows spread — but officials need to know if hospitals are approaching capacity. This surfaces collapse risk before it's too late.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30552"/>
            <a:ext cx="85039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5B9E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30552"/>
            <a:ext cx="54864" cy="8046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67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A72"/>
                </a:solidFill>
              </a:rPr>
              <a:t>Mortality Burden Index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459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covid_pct_of_total_deaths × percent_of_expected_deaths / 100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2185416"/>
            <a:ext cx="4754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Isolates states where COVID is truly driving excess mortality. Removes noise from other causes — critical for resource allocation.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26664"/>
            <a:ext cx="85039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5B9E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26664"/>
            <a:ext cx="54864" cy="8046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A72"/>
                </a:solidFill>
              </a:rPr>
              <a:t>Poverty-Case Rate Correlation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355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poverty_pct (Census) vs avg_cases_per_100k (county COVID)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3081528"/>
            <a:ext cx="4754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Unique to our dataset combination. Reveals socioeconomic drivers — answers whether disadvantaged communities bear disproportionate burden.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922776"/>
            <a:ext cx="85039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5B9E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922776"/>
            <a:ext cx="54864" cy="8046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59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A72"/>
                </a:solidFill>
              </a:rPr>
              <a:t>Excess Death Rate Trend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percent_of_expected_deaths − 100 over time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31920" y="3977640"/>
            <a:ext cx="4754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Unaffected by testing rates or reporting delays. The most objective measure of pandemic severity across Alpha, Delta, and Omicron waves.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412480" y="4297680"/>
            <a:ext cx="41148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457200"/>
            <a:ext cx="54864" cy="4114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560320" cy="256032"/>
          </a:xfrm>
          <a:prstGeom prst="rect">
            <a:avLst>
              <a:gd name="adj" fmla="val 14286"/>
            </a:avLst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4 — End-to-end pipeline execution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— Walkthrough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2011680" cy="457200"/>
          </a:xfrm>
          <a:prstGeom prst="rect">
            <a:avLst/>
          </a:prstGeom>
          <a:solidFill>
            <a:srgbClr val="1A4A72"/>
          </a:solidFill>
          <a:ln w="12700">
            <a:solidFill>
              <a:srgbClr val="1A4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Trigger DAG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5"/>
                </a:solidFill>
              </a:rPr>
              <a:t>Manually trigger covid_pipeline in Airflow 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23444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234440"/>
            <a:ext cx="2011680" cy="457200"/>
          </a:xfrm>
          <a:prstGeom prst="rect">
            <a:avLst/>
          </a:prstGeom>
          <a:solidFill>
            <a:srgbClr val="1A4A72"/>
          </a:solidFill>
          <a:ln w="12700">
            <a:solidFill>
              <a:srgbClr val="1A4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53512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Watch tasks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87752" y="175564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5"/>
                </a:solidFill>
              </a:rPr>
              <a:t>ingest → dbt_run → dbt_test all green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72584" y="123444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2584" y="1234440"/>
            <a:ext cx="2011680" cy="457200"/>
          </a:xfrm>
          <a:prstGeom prst="rect">
            <a:avLst/>
          </a:prstGeom>
          <a:solidFill>
            <a:srgbClr val="1A4A72"/>
          </a:solidFill>
          <a:ln w="12700">
            <a:solidFill>
              <a:srgbClr val="1A4A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9784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Snowflake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4024" y="175564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5"/>
                </a:solidFill>
              </a:rPr>
              <a:t>Gold layer updated. 3 mart tables refreshed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123444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48856" y="1234440"/>
            <a:ext cx="2011680" cy="457200"/>
          </a:xfrm>
          <a:prstGeom prst="rect">
            <a:avLst/>
          </a:prstGeom>
          <a:solidFill>
            <a:srgbClr val="1A4A72"/>
          </a:solidFill>
          <a:ln w="12700">
            <a:solidFill>
              <a:srgbClr val="1A4A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06056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0296" y="175564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5"/>
                </a:solidFill>
              </a:rPr>
              <a:t>Streamlit 4-page walkthrough: Overview, Geographic, Demographic, Quality</a:t>
            </a:r>
            <a:endParaRPr lang="en-US" sz="10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412480" y="4297680"/>
            <a:ext cx="411480" cy="6583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00800" y="4663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0"/>
                </a:solidFill>
              </a:rPr>
              <a:t>Jing You · NSS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560320" cy="256032"/>
          </a:xfrm>
          <a:prstGeom prst="rect">
            <a:avLst>
              <a:gd name="adj" fmla="val 14286"/>
            </a:avLst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4 — End-to-end pipeline execution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— Full Pipeline Run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8229600" cy="3200400"/>
          </a:xfrm>
          <a:prstGeom prst="rect">
            <a:avLst/>
          </a:prstGeom>
          <a:solidFill>
            <a:srgbClr val="0D1B2A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860B"/>
                </a:solidFill>
              </a:rPr>
              <a:t>VIDEO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C060"/>
                </a:solidFill>
              </a:rPr>
              <a:t>[ INSERT SCREEN RECORDING HERE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070"/>
                </a:solidFill>
              </a:rPr>
              <a:t>Insert tab → Video → This Device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060"/>
                </a:solidFill>
              </a:rPr>
              <a:t>Airflow DAG triggered  ·  All 3 tasks green  ·  Streamlit 4-page walkthrough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412480" y="4160520"/>
            <a:ext cx="41148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457200"/>
            <a:ext cx="54864" cy="4114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560320" cy="256032"/>
          </a:xfrm>
          <a:prstGeom prst="rect">
            <a:avLst>
              <a:gd name="adj" fmla="val 14286"/>
            </a:avLst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5 — What worked, what was hard, lessons learned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Reflection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269748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2697480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Worked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Clear role split — no duplicate work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Incremental debugging: one layer at a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Data contracts between ingestion &amp; modeling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Named Docker volumes for Airflow 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9748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94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34440"/>
            <a:ext cx="2697480" cy="420624"/>
          </a:xfrm>
          <a:prstGeom prst="rect">
            <a:avLst/>
          </a:prstGeom>
          <a:solidFill>
            <a:srgbClr val="B94040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344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Was Hard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71907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Geographic key mismatch across sources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Windows Home WSL2 limitations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dbt schema macro needed to prevent concat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Airflow container PATH isolation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69748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4A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234440"/>
            <a:ext cx="2697480" cy="420624"/>
          </a:xfrm>
          <a:prstGeom prst="rect">
            <a:avLst/>
          </a:prstGeom>
          <a:solidFill>
            <a:srgbClr val="1A4A72"/>
          </a:solidFill>
          <a:ln w="12700">
            <a:solidFill>
              <a:srgbClr val="1A4A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344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Lessons Learned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71907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Define data contracts early and explicitly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Read release notes before upgrading versions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Persist environment state (volumes, .env)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Both members should understand full system</a:t>
            </a:r>
            <a:endParaRPr lang="en-US" sz="10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412480" y="4297680"/>
            <a:ext cx="41148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4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B886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22960" cy="1325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486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Q &amp; A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463040" y="12984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C060"/>
                </a:solidFill>
              </a:rPr>
              <a:t>Thank you — we're ready for your questions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3040" y="1719072"/>
            <a:ext cx="6858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3040" y="1920240"/>
            <a:ext cx="3200400" cy="594360"/>
          </a:xfrm>
          <a:prstGeom prst="rect">
            <a:avLst/>
          </a:prstGeom>
          <a:solidFill>
            <a:srgbClr val="5B9EC9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304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Architecture &amp; Scalability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37760" y="1920240"/>
            <a:ext cx="3200400" cy="594360"/>
          </a:xfrm>
          <a:prstGeom prst="rect">
            <a:avLst/>
          </a:prstGeom>
          <a:solidFill>
            <a:srgbClr val="5B9EC9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Team Coordination &amp; Process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463040" y="2697480"/>
            <a:ext cx="3200400" cy="594360"/>
          </a:xfrm>
          <a:prstGeom prst="rect">
            <a:avLst/>
          </a:prstGeom>
          <a:solidFill>
            <a:srgbClr val="5B9EC9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63040" y="2697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Data Quality &amp; Validation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937760" y="2697480"/>
            <a:ext cx="3200400" cy="594360"/>
          </a:xfrm>
          <a:prstGeom prst="rect">
            <a:avLst/>
          </a:prstGeom>
          <a:solidFill>
            <a:srgbClr val="5B9EC9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2697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Business Impact &amp; Metrics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463040" y="46177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70"/>
                </a:solidFill>
              </a:rPr>
              <a:t>Jing You  ·  Josh Breuwet  |  Nashville Software School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Public Health Analytics Pipeline</dc:title>
  <dc:subject>PptxGenJS Presentation</dc:subject>
  <dc:creator>Jing You · Nashville Software School</dc:creator>
  <cp:lastModifiedBy>Jing You · Nashville Software School</cp:lastModifiedBy>
  <cp:revision>1</cp:revision>
  <dcterms:created xsi:type="dcterms:W3CDTF">2026-04-04T17:06:18Z</dcterms:created>
  <dcterms:modified xsi:type="dcterms:W3CDTF">2026-04-04T17:06:18Z</dcterms:modified>
</cp:coreProperties>
</file>